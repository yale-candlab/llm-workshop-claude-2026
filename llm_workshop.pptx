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6" r:id="rId4"/>
    <p:sldId id="265" r:id="rId5"/>
    <p:sldId id="258" r:id="rId6"/>
    <p:sldId id="275" r:id="rId7"/>
    <p:sldId id="277" r:id="rId8"/>
    <p:sldId id="274" r:id="rId9"/>
    <p:sldId id="269" r:id="rId10"/>
    <p:sldId id="266" r:id="rId11"/>
    <p:sldId id="268" r:id="rId12"/>
    <p:sldId id="272" r:id="rId13"/>
    <p:sldId id="27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86C40-F021-E84C-B1DB-DB47317A107E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D9906-6E58-7147-A09C-A386321D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05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D9906-6E58-7147-A09C-A386321D55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46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4EE1-9506-83B7-5A72-7F57AFC7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1FE85-A748-8969-541D-99F732266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D4BAE-84B1-C411-E472-DBA9BCEF4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46EAD-B18C-26A5-BF52-7FA3B2BE7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D9906-6E58-7147-A09C-A386321D55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84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A9C9-868E-3FB4-0825-FAD23B8E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D5C4B-4F49-9FDA-2CAC-F39BFE981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BE52D-D242-73FD-FBD8-02E2DDAE8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D56B3-8768-AE6B-51B5-64B686A7F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D9906-6E58-7147-A09C-A386321D55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22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5E45-8A6F-3443-A66C-35A28250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B1408-A50C-FC87-814B-E3A1BD978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3B84A-5CA0-D4B3-82C1-D74795728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2A4CA-1370-CF9C-4ADC-94713E346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D9906-6E58-7147-A09C-A386321D55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57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29D18-9B2A-5EFF-7B63-2A27CAF6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DF52D-045B-65E3-C64C-068C12788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B6919-1135-6FEC-E936-6A4302A6A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E017E-28E4-FCD6-F11B-D485F602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D9906-6E58-7147-A09C-A386321D559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5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63EA-90D6-1312-6D82-F7A6EBB3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14119-CA64-B789-A79F-477E9A20E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56A7E-A66C-E5FB-2ABC-F1AD949F0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23E32-2859-9D19-B156-FF372D8C2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D9906-6E58-7147-A09C-A386321D55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7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0B07E-5A17-02A6-965E-FBFE54D61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A5ADC-11FF-6E53-BB89-A28A4D894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63488-E899-8472-F739-F02A6C63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1C800-52E8-C465-B273-889DEACB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6F0A2-732A-E1B6-5E8D-F1C3E815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8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CF152-4B66-996D-B261-BEBBFE2D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D60A-721A-F7BA-B667-1F2743E3D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69C4F-68BC-4A3C-6711-66706ED3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09B33-13CE-2577-6FA4-8D0AE858E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0A4E9-969E-0817-2368-A320B66D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7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8FC8-5FCA-FDD2-5728-26C91506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0892F-F3A3-3820-5244-E35DEC0DE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9527C-7B2B-F98C-F907-92B76DDE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A9A3C-514B-2ED9-914F-A64CF7E1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4C5C4-67E8-6EC4-FC96-F2CFB950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0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8FD6-FDB6-4F77-851A-73E15FAF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07952-FDFB-95A1-FB15-ECF3B183D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2AAD3-7631-0659-54DA-79B67DEF5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A5994-5A66-4F10-DDA6-F79A7F4A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94D37-7DEA-8553-2BB5-85DA302E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6F906-0C54-D5C7-F116-C3219566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2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0559-AEC5-E2A7-FB29-F12DD95D2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1E2ED-CDAE-4AEE-A5DE-D0F4E35FF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06BF4-6F9E-8AC0-A284-85B70E9F1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9EAD9-A7B1-F6F7-2FD1-85F14E4BD2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A0EB1-FA20-8D68-6CAE-3BF005B16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66DC5-4CD2-9BE7-D4ED-53CCD093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38B53B-7074-1D15-87FD-897E5A42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8889-29A5-EAEC-5BB2-B0ED6A53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CF99-5CAD-C999-F430-8B15FA73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79BC5-E2E8-B341-0F23-A23BAA41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C0F2E-1438-88F2-4F3F-FB1C581E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9A37A-D492-BE0D-0531-FEAFB8E6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4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72E4BC-A32A-F8DB-7D43-2B2D3C76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0F19A-383E-3155-EE8A-5B7045AA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679BC-FABF-1891-CAC5-8064BFB2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2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C1C0-8C79-6A9F-D932-97458648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49D86-819C-F869-B42F-FD9E8808F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131DD-6006-603B-D04A-58B35A00E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D3EE1-3BE0-A16B-27C3-07D53D1D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EDEB9-556A-D51B-00B9-F1836898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04FED-E70F-72C1-945F-BD5D5D85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1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CBAC-C09F-1531-94D5-041B9396F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09468-0B4E-00DB-05F1-0A8B9BC14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3F81D-558B-0568-B3B4-EA4E765A4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356F1-FF62-E2C9-C09A-41E2F2B3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9BD38-D135-DB9F-4468-2696C08E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EABA5-C59F-0187-83EA-B6EBF7BF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8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33B1-B8E5-1B70-0B9F-045C10B2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776E6-7131-4E5D-5F9F-9928B50D6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5E7C-962E-EAE6-A496-A04BC4AF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2B9D0-6D7C-4960-1941-257DB192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1BFBC-A667-CCC5-C292-CD9D57D8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4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08E0B-01F6-40FB-5151-E9C35DD4A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8595F-7BD6-FE0B-B41E-BB95549B6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E423C-A038-1A58-1D98-97882B82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F3E1C-ECFE-F5A4-CB26-76FE934D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DF253-2184-FDA1-3C8C-E8497971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2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6BF67-43E7-761D-0F2E-98B80DE71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60C5C-D2DA-4B1F-A393-C872A95B5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D5B8D-4328-F1D2-9400-DD49B3C67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10DA8-41F0-8242-B675-610D6EEDCA4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1936B-A27B-57B7-558F-6729F7E1B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221AB-38A2-C830-1BB7-A93C2B937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CC08D-0584-7142-BC82-0C1D706E6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8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8.0190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A4CFAC-E217-A858-2E27-DB2F9512FBA3}"/>
              </a:ext>
            </a:extLst>
          </p:cNvPr>
          <p:cNvSpPr txBox="1"/>
          <p:nvPr/>
        </p:nvSpPr>
        <p:spPr>
          <a:xfrm>
            <a:off x="661376" y="2474893"/>
            <a:ext cx="11052000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/>
              <a:t>Large Language Model Overview and Workshop:</a:t>
            </a:r>
          </a:p>
          <a:p>
            <a:pPr algn="ctr"/>
            <a:r>
              <a:rPr lang="en-US" sz="3200" b="1" dirty="0"/>
              <a:t>An Introduction to LLM-Based Workflows and Claude Code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400" dirty="0"/>
              <a:t>Taylor J. Keding, Ph.D.</a:t>
            </a:r>
          </a:p>
          <a:p>
            <a:pPr algn="ctr"/>
            <a:r>
              <a:rPr lang="en-US" sz="2000" dirty="0"/>
              <a:t>Research Scientist</a:t>
            </a:r>
          </a:p>
          <a:p>
            <a:pPr algn="ctr"/>
            <a:r>
              <a:rPr lang="en-US" sz="2000" dirty="0"/>
              <a:t>Yale’s Department of Psychology, Child Study Center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0430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9058-2990-6BD1-5624-A29EA7A6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3307" cy="1325563"/>
          </a:xfrm>
        </p:spPr>
        <p:txBody>
          <a:bodyPr>
            <a:normAutofit/>
          </a:bodyPr>
          <a:lstStyle/>
          <a:p>
            <a:r>
              <a:rPr lang="en-US" sz="3600" dirty="0"/>
              <a:t>Large Language Models (LLMs) are Text-Predicting Engines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4D4C3670-EE65-121D-24F4-138BB52A1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77" y="1651831"/>
            <a:ext cx="3265483" cy="4714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F24AC-6AB7-DEF4-404C-BEA8206761CA}"/>
              </a:ext>
            </a:extLst>
          </p:cNvPr>
          <p:cNvSpPr txBox="1"/>
          <p:nvPr/>
        </p:nvSpPr>
        <p:spPr>
          <a:xfrm>
            <a:off x="838200" y="1690688"/>
            <a:ext cx="8484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LLMs are built on Transformers (Attention-Based Neural Networks)</a:t>
            </a:r>
            <a:br>
              <a:rPr lang="en-US" dirty="0"/>
            </a:br>
            <a:r>
              <a:rPr lang="en-US" sz="1200" dirty="0"/>
              <a:t>“</a:t>
            </a:r>
            <a:r>
              <a:rPr lang="en-US" sz="1200" i="1" dirty="0"/>
              <a:t>Attention is All You Need” - </a:t>
            </a:r>
            <a:r>
              <a:rPr lang="en-US" sz="1200" dirty="0"/>
              <a:t>Vaswani</a:t>
            </a:r>
            <a:r>
              <a:rPr lang="en-US" sz="1200" i="1" dirty="0"/>
              <a:t> </a:t>
            </a:r>
            <a:r>
              <a:rPr lang="en-US" sz="1200" dirty="0"/>
              <a:t> </a:t>
            </a:r>
            <a:r>
              <a:rPr lang="en-US" sz="1200" i="1" dirty="0"/>
              <a:t>et al.</a:t>
            </a:r>
            <a:r>
              <a:rPr lang="en-US" sz="1200" dirty="0"/>
              <a:t> 2017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4482C-BF50-7E11-B132-475441E4FB3A}"/>
              </a:ext>
            </a:extLst>
          </p:cNvPr>
          <p:cNvSpPr txBox="1"/>
          <p:nvPr/>
        </p:nvSpPr>
        <p:spPr>
          <a:xfrm>
            <a:off x="838199" y="2311448"/>
            <a:ext cx="8103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Makes probabilistic predictions about next word/sentence/paragraph, estimates probabilities, and returns response with highest probability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Tuned during Reinforcement Learning with Human-in-the-loop (</a:t>
            </a:r>
            <a:r>
              <a:rPr lang="en-US" sz="1600" dirty="0" err="1"/>
              <a:t>HiTL</a:t>
            </a:r>
            <a:r>
              <a:rPr lang="en-US" sz="1600" dirty="0"/>
              <a:t>) Feedback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52077D-A216-3915-4065-0D08480EBF60}"/>
              </a:ext>
            </a:extLst>
          </p:cNvPr>
          <p:cNvSpPr txBox="1"/>
          <p:nvPr/>
        </p:nvSpPr>
        <p:spPr>
          <a:xfrm>
            <a:off x="838199" y="4339796"/>
            <a:ext cx="76572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systems combine “agents” (just more LLM instances) to create, refine, and validate outputs as a team (sometimes called a </a:t>
            </a:r>
            <a:r>
              <a:rPr lang="en-US" i="1" dirty="0"/>
              <a:t>swarm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Hallucinations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Sycophancy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Spontaneous memory loss (with iterative prompting)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Ignoring and </a:t>
            </a:r>
            <a:r>
              <a:rPr lang="en-US" sz="1600" dirty="0" err="1"/>
              <a:t>exploting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DA943-1606-12DA-FB0D-645411FB428D}"/>
              </a:ext>
            </a:extLst>
          </p:cNvPr>
          <p:cNvSpPr txBox="1"/>
          <p:nvPr/>
        </p:nvSpPr>
        <p:spPr>
          <a:xfrm>
            <a:off x="838199" y="3289133"/>
            <a:ext cx="7657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and companies (e.g. </a:t>
            </a:r>
            <a:r>
              <a:rPr lang="en-US" dirty="0" err="1"/>
              <a:t>Anthropic’s</a:t>
            </a:r>
            <a:r>
              <a:rPr lang="en-US" dirty="0"/>
              <a:t> </a:t>
            </a:r>
            <a:r>
              <a:rPr lang="en-US" i="1" dirty="0"/>
              <a:t>Claude</a:t>
            </a:r>
            <a:r>
              <a:rPr lang="en-US" dirty="0"/>
              <a:t>) create </a:t>
            </a:r>
            <a:r>
              <a:rPr lang="en-US" i="1" dirty="0"/>
              <a:t>harnesses</a:t>
            </a:r>
            <a:r>
              <a:rPr lang="en-US" dirty="0"/>
              <a:t> for models; reasoning algorithms that guide the LLM’s ‘cognitive processes’ before presenting the user with a response</a:t>
            </a:r>
          </a:p>
        </p:txBody>
      </p:sp>
    </p:spTree>
    <p:extLst>
      <p:ext uri="{BB962C8B-B14F-4D97-AF65-F5344CB8AC3E}">
        <p14:creationId xmlns:p14="http://schemas.microsoft.com/office/powerpoint/2010/main" val="308348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24C6-E1E7-393D-21FE-94BCBDE2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Terms…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2B8D0-E110-6924-E863-38B366EA3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91343"/>
            <a:ext cx="10668000" cy="5077732"/>
          </a:xfrm>
        </p:spPr>
        <p:txBody>
          <a:bodyPr>
            <a:normAutofit fontScale="85000" lnSpcReduction="10000"/>
          </a:bodyPr>
          <a:lstStyle/>
          <a:p>
            <a:r>
              <a:rPr lang="en-US" sz="2000" b="1" i="1" dirty="0"/>
              <a:t>Token</a:t>
            </a:r>
            <a:r>
              <a:rPr lang="en-US" sz="2000" dirty="0"/>
              <a:t>: foundational unit of what the LLM “sees” (usually a word or a set length of characters)</a:t>
            </a:r>
          </a:p>
          <a:p>
            <a:r>
              <a:rPr lang="en-US" sz="2000" b="1" i="1" dirty="0"/>
              <a:t>Prompt</a:t>
            </a:r>
            <a:r>
              <a:rPr lang="en-US" sz="2000" b="1" dirty="0"/>
              <a:t>: </a:t>
            </a:r>
            <a:r>
              <a:rPr lang="en-US" sz="2000" dirty="0"/>
              <a:t>a sequence of tokens (instructions) providing a ”seed” for LLM’s to make predictions from – how humans communicate with the LLM</a:t>
            </a:r>
            <a:endParaRPr lang="en-US" sz="2000" b="1" i="1" dirty="0"/>
          </a:p>
          <a:p>
            <a:r>
              <a:rPr lang="en-US" sz="2000" b="1" i="1" dirty="0"/>
              <a:t>(Zero) Data Retention Policy</a:t>
            </a:r>
            <a:r>
              <a:rPr lang="en-US" sz="2000" dirty="0"/>
              <a:t>: determines if your prompts and LLM work are sent back to parent companies to further train their models (important when working with PHI, PII, and HIPAA-protected information)</a:t>
            </a:r>
          </a:p>
          <a:p>
            <a:r>
              <a:rPr lang="en-US" sz="2000" b="1" i="1" dirty="0"/>
              <a:t>Harness: </a:t>
            </a:r>
            <a:r>
              <a:rPr lang="en-US" sz="2000" dirty="0"/>
              <a:t>algorithms that guide “thinking” and LLM-based processes</a:t>
            </a:r>
          </a:p>
          <a:p>
            <a:pPr lvl="1"/>
            <a:r>
              <a:rPr lang="en-US" sz="1600" dirty="0"/>
              <a:t>Raw LLMs are NOT what people have the most experience with – base output lacks the “reasoning” users are used to</a:t>
            </a:r>
          </a:p>
          <a:p>
            <a:r>
              <a:rPr lang="en-US" sz="2000" b="1" i="1" dirty="0"/>
              <a:t>Context Window: </a:t>
            </a:r>
            <a:r>
              <a:rPr lang="en-US" sz="2000" dirty="0"/>
              <a:t>the LLM’s session memory; history of session prompts and responses (~250K - 1M tokens)</a:t>
            </a:r>
            <a:endParaRPr lang="en-US" sz="2000" b="1" i="1" dirty="0"/>
          </a:p>
          <a:p>
            <a:r>
              <a:rPr lang="en-US" sz="2000" b="1" i="1" dirty="0"/>
              <a:t>Compaction: </a:t>
            </a:r>
            <a:r>
              <a:rPr lang="en-US" sz="2000" dirty="0"/>
              <a:t>LLM memory clearing; condensing/summarizing the context window, erase it, and inject a single prompt containing the new summary </a:t>
            </a:r>
          </a:p>
          <a:p>
            <a:pPr lvl="1"/>
            <a:r>
              <a:rPr lang="en-US" sz="1600" dirty="0"/>
              <a:t>Can be sensitive and lead to significant forgetting if summarization is not detailed enough</a:t>
            </a:r>
          </a:p>
          <a:p>
            <a:r>
              <a:rPr lang="en-US" sz="2000" b="1" i="1" dirty="0"/>
              <a:t>Hook: </a:t>
            </a:r>
            <a:r>
              <a:rPr lang="en-US" sz="2000" dirty="0"/>
              <a:t>automatically injected (scripted) instructions before or after an LLM completes specific workflow steps</a:t>
            </a:r>
          </a:p>
          <a:p>
            <a:r>
              <a:rPr lang="en-US" sz="2000" b="1" i="1" dirty="0"/>
              <a:t>Orchestrator: </a:t>
            </a:r>
            <a:r>
              <a:rPr lang="en-US" sz="2000" dirty="0"/>
              <a:t>main LLM instance that the user communicates with; dispatches agents, invokes skills, aggregates ‘team’ outputs into a single user-shown response</a:t>
            </a:r>
            <a:endParaRPr lang="en-US" sz="2000" b="1" i="1" dirty="0"/>
          </a:p>
          <a:p>
            <a:r>
              <a:rPr lang="en-US" sz="2000" b="1" i="1" dirty="0"/>
              <a:t>Agent: </a:t>
            </a:r>
            <a:r>
              <a:rPr lang="en-US" sz="2000" dirty="0"/>
              <a:t>LLM instances that are dispatched to do work by the orchestrator; no direct communicate with the user</a:t>
            </a:r>
          </a:p>
          <a:p>
            <a:r>
              <a:rPr lang="en-US" sz="2000" b="1" i="1" dirty="0"/>
              <a:t>Skill: </a:t>
            </a:r>
            <a:r>
              <a:rPr lang="en-US" sz="2000" dirty="0"/>
              <a:t>a set of instructions provided to an orchestrator or agent that describes specific a specific workflow, tools available for the workflow, and ”persona” descriptions for how the work should be done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840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FAEC-026A-5245-EE87-C8149B47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LLM Prompts and Context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10A4-D882-E815-145E-426EEC9C0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850493"/>
          </a:xfrm>
        </p:spPr>
        <p:txBody>
          <a:bodyPr>
            <a:normAutofit/>
          </a:bodyPr>
          <a:lstStyle/>
          <a:p>
            <a:r>
              <a:rPr lang="en-US" sz="2000" dirty="0"/>
              <a:t>Fundamentally, all inputs to an LLM are </a:t>
            </a:r>
            <a:r>
              <a:rPr lang="en-US" sz="2000" i="1" dirty="0"/>
              <a:t>token-based prompts</a:t>
            </a:r>
          </a:p>
          <a:p>
            <a:pPr lvl="1"/>
            <a:r>
              <a:rPr lang="en-US" sz="1600" dirty="0"/>
              <a:t>Non-text-based media adaptations available (e.g. Vision Transformers)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17ADB-1AEE-2AF0-DA71-6649028E3C04}"/>
              </a:ext>
            </a:extLst>
          </p:cNvPr>
          <p:cNvSpPr txBox="1"/>
          <p:nvPr/>
        </p:nvSpPr>
        <p:spPr>
          <a:xfrm>
            <a:off x="838200" y="2432539"/>
            <a:ext cx="10613065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LLM has a </a:t>
            </a:r>
            <a:r>
              <a:rPr lang="en-US" sz="2000" i="1" dirty="0"/>
              <a:t>context window, </a:t>
            </a:r>
            <a:r>
              <a:rPr lang="en-US" sz="2000" dirty="0"/>
              <a:t>the model’s accumulated memory of  prompts, responses, and other session information.</a:t>
            </a:r>
            <a:br>
              <a:rPr lang="en-US" sz="2000" dirty="0"/>
            </a:br>
            <a:r>
              <a:rPr lang="en-US" sz="400" dirty="0">
                <a:solidFill>
                  <a:schemeClr val="bg1"/>
                </a:solidFill>
              </a:rPr>
              <a:t>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i="1" dirty="0"/>
              <a:t>Compaction</a:t>
            </a:r>
            <a:r>
              <a:rPr lang="en-US" sz="1600" dirty="0"/>
              <a:t> clears the context window, replacing it with a condensed summary of the context so far</a:t>
            </a:r>
            <a:endParaRPr lang="en-US" sz="1600" i="1" dirty="0"/>
          </a:p>
          <a:p>
            <a:pPr lvl="1"/>
            <a:r>
              <a:rPr lang="en-US" sz="400" dirty="0">
                <a:solidFill>
                  <a:schemeClr val="bg1"/>
                </a:solidFill>
              </a:rPr>
              <a:t>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Large context windows (e.g. </a:t>
            </a:r>
            <a:r>
              <a:rPr lang="en-US" sz="1600" dirty="0" err="1"/>
              <a:t>Anthropic’s</a:t>
            </a:r>
            <a:r>
              <a:rPr lang="en-US" sz="1600" dirty="0"/>
              <a:t> 1M tokens) can increase the probability of ambiguous/conflicting prompts and short-term hallucinations, but increase efficiency and decrease long-term hallucinations on long, complex problems</a:t>
            </a:r>
            <a:br>
              <a:rPr lang="en-US" sz="1600" dirty="0"/>
            </a:br>
            <a:r>
              <a:rPr lang="en-US" sz="400" dirty="0">
                <a:solidFill>
                  <a:schemeClr val="bg1"/>
                </a:solidFill>
              </a:rPr>
              <a:t>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Smaller context windows are less likely to suffer from short-term hallucinations and ambiguous/conflicting prompts, but frequent </a:t>
            </a:r>
            <a:r>
              <a:rPr lang="en-US" sz="1600" i="1" dirty="0"/>
              <a:t>compaction </a:t>
            </a:r>
            <a:r>
              <a:rPr lang="en-US" sz="1600" dirty="0"/>
              <a:t>causes frequent forgetting</a:t>
            </a:r>
            <a:br>
              <a:rPr lang="en-US" sz="1600" dirty="0"/>
            </a:br>
            <a:r>
              <a:rPr lang="en-US" sz="400" dirty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0658B-BC80-2B05-E08C-A0B23113610A}"/>
              </a:ext>
            </a:extLst>
          </p:cNvPr>
          <p:cNvSpPr txBox="1"/>
          <p:nvPr/>
        </p:nvSpPr>
        <p:spPr>
          <a:xfrm>
            <a:off x="789467" y="5002473"/>
            <a:ext cx="106130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Monitoring and managing prompts and context windows reduces information loss during compaction and between sessions</a:t>
            </a:r>
          </a:p>
          <a:p>
            <a:r>
              <a:rPr lang="en-US" sz="400" dirty="0">
                <a:solidFill>
                  <a:schemeClr val="bg1"/>
                </a:solidFill>
              </a:rPr>
              <a:t>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Most built-in harness have transcripts that can be referenced, but how often those are updated differs</a:t>
            </a:r>
          </a:p>
          <a:p>
            <a:pPr lvl="1"/>
            <a:r>
              <a:rPr lang="en-US" sz="400" dirty="0">
                <a:solidFill>
                  <a:schemeClr val="bg1"/>
                </a:solidFill>
              </a:rPr>
              <a:t>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Taylor’s harness saves on-going session details that are retrieved and harmonized after compaction</a:t>
            </a:r>
          </a:p>
        </p:txBody>
      </p:sp>
    </p:spTree>
    <p:extLst>
      <p:ext uri="{BB962C8B-B14F-4D97-AF65-F5344CB8AC3E}">
        <p14:creationId xmlns:p14="http://schemas.microsoft.com/office/powerpoint/2010/main" val="2116713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296C-99F4-B5B2-51A2-E28FA090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Systems-Level and ‘Meta’ Thinking is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1F76-0090-8952-43F6-F2CA0358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742"/>
            <a:ext cx="10515600" cy="4403544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You are now a Director of a team of LLMs. Workflows require a hierarchical system: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Departments (Skill)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Department Managers (Skill Orchestrators)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Senior-Level Staff (Agent; more advanced model at higher effort)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Junior-Level Staff (Agent; less advanced model at medium/high effort)</a:t>
            </a:r>
          </a:p>
          <a:p>
            <a:pPr lvl="1"/>
            <a:endParaRPr lang="en-US" sz="1600" dirty="0"/>
          </a:p>
          <a:p>
            <a:r>
              <a:rPr lang="en-US" sz="2400" dirty="0"/>
              <a:t>Overlap/Redundancy costs more tokens, but is KEY to robust work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Individual orchestrators/agents can hallucinate, make poor assumptions, or misread/ignore your directions.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Teams of orchestrators/agents that coordinate and reconcile differences in output (assuming the same work prompt) reduces hallucinations and increases the overall quality of the work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At each level of the team hierarchy, the next layer checks the work of the previous layer</a:t>
            </a:r>
            <a:br>
              <a:rPr lang="en-US" sz="1900" dirty="0"/>
            </a:br>
            <a:endParaRPr lang="en-US" sz="1600" dirty="0"/>
          </a:p>
          <a:p>
            <a:r>
              <a:rPr lang="en-US" sz="2400" dirty="0"/>
              <a:t>Each level of the team hierarchy can implement specific safety guardrails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I/O contracts between levels allow safe/secure hand-offs of information</a:t>
            </a:r>
          </a:p>
          <a:p>
            <a:pPr lvl="1">
              <a:spcBef>
                <a:spcPts val="700"/>
              </a:spcBef>
            </a:pPr>
            <a:r>
              <a:rPr lang="en-US" sz="1600" dirty="0"/>
              <a:t>Small mistakes at lower levels tend to be </a:t>
            </a:r>
            <a:r>
              <a:rPr lang="en-US" sz="1600" i="1" dirty="0"/>
              <a:t>more</a:t>
            </a:r>
            <a:r>
              <a:rPr lang="en-US" sz="1600" dirty="0"/>
              <a:t> OK, as long as higher levels have validation guardrails</a:t>
            </a:r>
          </a:p>
        </p:txBody>
      </p:sp>
    </p:spTree>
    <p:extLst>
      <p:ext uri="{BB962C8B-B14F-4D97-AF65-F5344CB8AC3E}">
        <p14:creationId xmlns:p14="http://schemas.microsoft.com/office/powerpoint/2010/main" val="797285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E64D-4F2B-DC28-40D0-EB90CAC8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F88AC-F8C2-0974-2AD1-52DDC71B1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251"/>
            <a:ext cx="10515600" cy="4794730"/>
          </a:xfrm>
        </p:spPr>
        <p:txBody>
          <a:bodyPr>
            <a:normAutofit/>
          </a:bodyPr>
          <a:lstStyle/>
          <a:p>
            <a:r>
              <a:rPr lang="en-US" dirty="0"/>
              <a:t>Not project-specific; abstract categories that your work typically revolves around</a:t>
            </a:r>
          </a:p>
          <a:p>
            <a:pPr lvl="1"/>
            <a:r>
              <a:rPr lang="en-US" sz="1800" dirty="0"/>
              <a:t>Designing/planning experiments, analyses, manuscripts -&gt; brainstorm</a:t>
            </a:r>
          </a:p>
          <a:p>
            <a:pPr lvl="1"/>
            <a:r>
              <a:rPr lang="en-US" sz="1800" dirty="0"/>
              <a:t>Reviewing/debugging code, providing feedback on manuscript sections -&gt; critical review</a:t>
            </a:r>
          </a:p>
          <a:p>
            <a:pPr lvl="1"/>
            <a:r>
              <a:rPr lang="en-US" sz="1800" dirty="0"/>
              <a:t>Building a codebase, writing Word documents, designing plots/tables -&gt; implement</a:t>
            </a:r>
          </a:p>
          <a:p>
            <a:r>
              <a:rPr lang="en-US" dirty="0"/>
              <a:t>Automation-Based vs. LLM-Based Work</a:t>
            </a:r>
          </a:p>
          <a:p>
            <a:pPr lvl="1"/>
            <a:r>
              <a:rPr lang="en-US" sz="1800" dirty="0"/>
              <a:t>Skills should maximize scripted, automated work</a:t>
            </a:r>
          </a:p>
          <a:p>
            <a:pPr lvl="2"/>
            <a:r>
              <a:rPr lang="en-US" sz="1600" dirty="0"/>
              <a:t>Deterministic</a:t>
            </a:r>
          </a:p>
          <a:p>
            <a:pPr lvl="2"/>
            <a:r>
              <a:rPr lang="en-US" sz="1600" dirty="0"/>
              <a:t>No subjective or interpretive input from the LLM</a:t>
            </a:r>
          </a:p>
          <a:p>
            <a:pPr lvl="2"/>
            <a:r>
              <a:rPr lang="en-US" sz="1600" dirty="0"/>
              <a:t>Easy to review and critique outputs</a:t>
            </a:r>
          </a:p>
          <a:p>
            <a:pPr lvl="2"/>
            <a:r>
              <a:rPr lang="en-US" sz="1600" dirty="0"/>
              <a:t>Hooks typically take this form (i.e. “do something before or after a skill completes an aspect of its work”</a:t>
            </a:r>
          </a:p>
          <a:p>
            <a:pPr lvl="1"/>
            <a:r>
              <a:rPr lang="en-US" sz="1800" dirty="0"/>
              <a:t>Skill should minimize LLM-based work</a:t>
            </a:r>
          </a:p>
          <a:p>
            <a:pPr lvl="2"/>
            <a:r>
              <a:rPr lang="en-US" sz="1600" dirty="0"/>
              <a:t>Probabilistic, quality of result depends on the quality of the input prompt</a:t>
            </a:r>
          </a:p>
          <a:p>
            <a:pPr lvl="2"/>
            <a:r>
              <a:rPr lang="en-US" sz="1600" dirty="0"/>
              <a:t>Harder to review and critique the quality of the output 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11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D02E1-742F-5FB2-5001-58870474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1408-2DAC-D053-707F-3919F3A2D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Transparency, Privacy, and Return Policy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F389E-CE04-584F-E4E1-F2D6B78FF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520565"/>
            <a:ext cx="10515600" cy="1020614"/>
          </a:xfrm>
        </p:spPr>
        <p:txBody>
          <a:bodyPr>
            <a:normAutofit/>
          </a:bodyPr>
          <a:lstStyle/>
          <a:p>
            <a:r>
              <a:rPr lang="en-US" sz="2000" dirty="0"/>
              <a:t>Private accounts do </a:t>
            </a:r>
            <a:r>
              <a:rPr lang="en-US" sz="2000" i="1" dirty="0"/>
              <a:t>not</a:t>
            </a:r>
            <a:r>
              <a:rPr lang="en-US" sz="2000" dirty="0"/>
              <a:t> have zero-retention policies built in</a:t>
            </a:r>
          </a:p>
          <a:p>
            <a:pPr lvl="1"/>
            <a:r>
              <a:rPr lang="en-US" sz="1600" dirty="0"/>
              <a:t>All data, files, and prompts you expose to the LLM will be saved and sent to parent 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79692-ED77-4B1F-3AA6-1308F2C87234}"/>
              </a:ext>
            </a:extLst>
          </p:cNvPr>
          <p:cNvSpPr txBox="1"/>
          <p:nvPr/>
        </p:nvSpPr>
        <p:spPr>
          <a:xfrm>
            <a:off x="838196" y="2270993"/>
            <a:ext cx="10515599" cy="916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Yale-sponsored accounts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 </a:t>
            </a:r>
            <a:r>
              <a:rPr kumimoji="0" lang="en-US" sz="20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have built-in, zero-retention policies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i="0" dirty="0">
                <a:solidFill>
                  <a:prstClr val="black"/>
                </a:solidFill>
                <a:latin typeface="Aptos" panose="02110004020202020204"/>
              </a:rPr>
              <a:t>Allows 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LLM exposure to data with adequate safeguards in-place (e.g. prevent PHI/PII publishing to GitHub).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Lab policies, specific dataset curators, etc. may still have rules about what can and can’t be exposed to an LLM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4BD53-5A72-A5D4-5370-6DD55AA5DCC9}"/>
              </a:ext>
            </a:extLst>
          </p:cNvPr>
          <p:cNvSpPr txBox="1"/>
          <p:nvPr/>
        </p:nvSpPr>
        <p:spPr>
          <a:xfrm>
            <a:off x="838196" y="3252840"/>
            <a:ext cx="10515599" cy="1683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ptos" panose="02110004020202020204"/>
              </a:rPr>
              <a:t>Yale offers Team/Enterprise-Level Claude accounts to faculty/staff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Other LLMs may also be available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$20/month “Pro” plan (great for most users; start here and work up if needed)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$50/month “Max” plan (heavy coding or reviewing work)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Provides PHI-safe/HIPAA-compliant environments, allowing the LLM direct access to data, available tools, and output to Yale-sponsored servers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FA30A-F001-BC81-53B7-01F0CFF2FBAD}"/>
              </a:ext>
            </a:extLst>
          </p:cNvPr>
          <p:cNvSpPr txBox="1"/>
          <p:nvPr/>
        </p:nvSpPr>
        <p:spPr>
          <a:xfrm>
            <a:off x="838196" y="5002077"/>
            <a:ext cx="10515599" cy="1569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ptos" panose="02110004020202020204"/>
              </a:rPr>
              <a:t>Use the Artificial Intelligence Disclosure (AID) Framework to document LLM use </a:t>
            </a:r>
            <a:r>
              <a:rPr lang="en-US" sz="2000" dirty="0">
                <a:solidFill>
                  <a:prstClr val="black"/>
                </a:solidFill>
              </a:rPr>
              <a:t>for to-be-published material (</a:t>
            </a:r>
            <a:r>
              <a:rPr lang="en-US" sz="2000" i="1" dirty="0">
                <a:solidFill>
                  <a:prstClr val="black"/>
                </a:solidFill>
              </a:rPr>
              <a:t>Weaver</a:t>
            </a:r>
            <a:r>
              <a:rPr lang="en-US" sz="2000" dirty="0">
                <a:solidFill>
                  <a:prstClr val="black"/>
                </a:solidFill>
              </a:rPr>
              <a:t> 2025; 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https://arxiv.org/abs/2408.01904</a:t>
            </a:r>
            <a:r>
              <a:rPr lang="en-US" sz="2000" dirty="0">
                <a:solidFill>
                  <a:prstClr val="black"/>
                </a:solidFill>
              </a:rPr>
              <a:t>) 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Taylor’s /document and /publish skills automatically implement AID steps for codebases (see example)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LLM-based writing does not have a thoroughly worked-out framework; often has stricter requirements for many/most journals</a:t>
            </a:r>
          </a:p>
        </p:txBody>
      </p:sp>
    </p:spTree>
    <p:extLst>
      <p:ext uri="{BB962C8B-B14F-4D97-AF65-F5344CB8AC3E}">
        <p14:creationId xmlns:p14="http://schemas.microsoft.com/office/powerpoint/2010/main" val="1951004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8873-E43F-CFC6-626E-60EE4546D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39F5-F499-3F45-6702-35A646D2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Anthropic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356D-EDFC-06D2-0F35-B76F9BF5E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4" y="1531026"/>
            <a:ext cx="10239149" cy="1738312"/>
          </a:xfrm>
        </p:spPr>
        <p:txBody>
          <a:bodyPr>
            <a:normAutofit/>
          </a:bodyPr>
          <a:lstStyle/>
          <a:p>
            <a:r>
              <a:rPr lang="en-US" sz="1800" b="1" dirty="0"/>
              <a:t>Fable</a:t>
            </a:r>
            <a:r>
              <a:rPr lang="en-US" sz="1800" dirty="0"/>
              <a:t> Family (v5, v5.1) – Not recommended</a:t>
            </a:r>
          </a:p>
          <a:p>
            <a:pPr lvl="1">
              <a:spcBef>
                <a:spcPts val="400"/>
              </a:spcBef>
            </a:pPr>
            <a:r>
              <a:rPr lang="en-US" sz="1400" dirty="0"/>
              <a:t>Powerful, but extremely token-hungry</a:t>
            </a:r>
          </a:p>
          <a:p>
            <a:pPr lvl="1">
              <a:spcBef>
                <a:spcPts val="400"/>
              </a:spcBef>
            </a:pPr>
            <a:r>
              <a:rPr lang="en-US" sz="1400" dirty="0"/>
              <a:t>Tendency to </a:t>
            </a:r>
            <a:r>
              <a:rPr lang="en-US" sz="1400" i="1" dirty="0"/>
              <a:t>exploit</a:t>
            </a:r>
            <a:r>
              <a:rPr lang="en-US" sz="1400" dirty="0"/>
              <a:t> a problem/request instead of solve it (sometimes a good thing)</a:t>
            </a:r>
          </a:p>
          <a:p>
            <a:pPr lvl="1">
              <a:spcBef>
                <a:spcPts val="400"/>
              </a:spcBef>
            </a:pPr>
            <a:r>
              <a:rPr lang="en-US" sz="1400" dirty="0"/>
              <a:t>High security risk – prompts are limited/screened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E150D-C576-0975-8A97-1B5F6F7B88E6}"/>
              </a:ext>
            </a:extLst>
          </p:cNvPr>
          <p:cNvSpPr txBox="1"/>
          <p:nvPr/>
        </p:nvSpPr>
        <p:spPr>
          <a:xfrm>
            <a:off x="838194" y="2719539"/>
            <a:ext cx="10366747" cy="1711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Opus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Family (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v4.6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v4.7,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v4.8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v5,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v5.5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Most diverse family; more token conservative than Fable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Depending on the version, can </a:t>
            </a:r>
            <a:r>
              <a:rPr lang="en-US" sz="1400" i="1" dirty="0">
                <a:solidFill>
                  <a:prstClr val="black"/>
                </a:solidFill>
                <a:latin typeface="Aptos" panose="02110004020202020204"/>
              </a:rPr>
              <a:t>out-reason</a:t>
            </a: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 itself (stuck in reasoning loops) and favors fastest way of solving problems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Recommendations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Use 4.6 at high and max effort - continues to be strongest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performing model (complex analytics, cross-session reasoning, etc.); 4.8 </a:t>
            </a: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usually makes more mistakes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but works well for some writing-based tasks compared to 4.6; 5.5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may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be the best of all (still too new to know yet)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prstClr val="black"/>
                </a:solidFill>
                <a:latin typeface="Aptos" panose="02110004020202020204"/>
              </a:rPr>
              <a:t>Works well for</a:t>
            </a: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: designing plans for brainstorming, critical reviewing, testing, and cleaning; writing-based tasks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88C94-23B6-A442-978C-CDF22BDFF511}"/>
              </a:ext>
            </a:extLst>
          </p:cNvPr>
          <p:cNvSpPr txBox="1"/>
          <p:nvPr/>
        </p:nvSpPr>
        <p:spPr>
          <a:xfrm>
            <a:off x="912626" y="4457851"/>
            <a:ext cx="10366747" cy="132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Sonnet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Family (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v4.6, v5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”Reliable workhorse” family; very token conservative and has separate usage category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Less reasoning than Opus, but typically better at following instructions/not making assumptions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Recommendations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Use 5 for complex building/implementation tasks; use 4.6 for less complex tasks</a:t>
            </a:r>
          </a:p>
          <a:p>
            <a:pPr marL="685800" lvl="1" indent="-2286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Works well for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implementation, running analyses, verifying work, searching and verifying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135B1-BDAF-0BDC-4A49-57FFE00DB852}"/>
              </a:ext>
            </a:extLst>
          </p:cNvPr>
          <p:cNvSpPr txBox="1"/>
          <p:nvPr/>
        </p:nvSpPr>
        <p:spPr>
          <a:xfrm>
            <a:off x="912626" y="5949413"/>
            <a:ext cx="9996379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Haiku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Famil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y (v4.5, v5 [released soon]) – Not recommended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39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F0CC-F315-21A9-DE7C-45513BEC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0113-BCB2-3843-7D14-890A38EE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CLAUDE.md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F9BC8-2857-2ED6-11DF-DD04F35C7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520565"/>
            <a:ext cx="10515600" cy="1020614"/>
          </a:xfrm>
        </p:spPr>
        <p:txBody>
          <a:bodyPr>
            <a:normAutofit/>
          </a:bodyPr>
          <a:lstStyle/>
          <a:p>
            <a:r>
              <a:rPr lang="en-US" sz="2000" dirty="0"/>
              <a:t>Project-specific context that won’t need to be explicitly prompted by the user in-session</a:t>
            </a:r>
          </a:p>
          <a:p>
            <a:pPr lvl="1"/>
            <a:r>
              <a:rPr lang="en-US" sz="1600" dirty="0"/>
              <a:t>Can reduce hallucinations and memory loss</a:t>
            </a:r>
          </a:p>
          <a:p>
            <a:pPr lvl="1"/>
            <a:r>
              <a:rPr lang="en-US" sz="1600" dirty="0"/>
              <a:t>Place in the top parent directory of your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E3162-5F5C-68C0-9479-A2C6AB24BA9A}"/>
              </a:ext>
            </a:extLst>
          </p:cNvPr>
          <p:cNvSpPr txBox="1"/>
          <p:nvPr/>
        </p:nvSpPr>
        <p:spPr>
          <a:xfrm>
            <a:off x="838198" y="2541179"/>
            <a:ext cx="10515599" cy="37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Short, Specific, and Sensitive (nuanced)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985FA1-23BA-2D5D-4D8E-0D772212B113}"/>
              </a:ext>
            </a:extLst>
          </p:cNvPr>
          <p:cNvSpPr txBox="1"/>
          <p:nvPr/>
        </p:nvSpPr>
        <p:spPr>
          <a:xfrm>
            <a:off x="838203" y="3000893"/>
            <a:ext cx="10515598" cy="1956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Describe What, Why, How, Where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The goals of what you want to accomplish in your Claude session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Hypotheses you want to test, how you want your output to be used, etc.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Description of key elements required (e.g., coding language, pipeline steps, software packages, model types, data assumptions)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the infrastructure (e.g., Where is the data located? Where should outputs go? Do you have access to multicore/job array systems?)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BE841-BAC4-7FD6-DF4B-266450787CFA}"/>
              </a:ext>
            </a:extLst>
          </p:cNvPr>
          <p:cNvSpPr txBox="1"/>
          <p:nvPr/>
        </p:nvSpPr>
        <p:spPr>
          <a:xfrm>
            <a:off x="838200" y="5046361"/>
            <a:ext cx="10515597" cy="933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Responsible use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post with analysis code and documentation when submitting pre-registrations or manuscripts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 transparent about where human intervention took place </a:t>
            </a:r>
            <a:endParaRPr lang="en-US" sz="1600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14709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38E9-0571-BE61-2DEC-CB3354ED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Markdown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193C6-EEFC-C12B-45DB-2EA574CEC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Project and Task-specific: </a:t>
            </a:r>
            <a:r>
              <a:rPr lang="en-US" sz="2000" dirty="0"/>
              <a:t>will not be read automatically, but can be referenced and read with follow-up prompting; more specific and task-oriented than </a:t>
            </a:r>
            <a:r>
              <a:rPr lang="en-US" sz="2000" dirty="0" err="1"/>
              <a:t>CLAUDE.md</a:t>
            </a:r>
            <a:endParaRPr lang="en-US" sz="2000" dirty="0"/>
          </a:p>
          <a:p>
            <a:r>
              <a:rPr lang="en-US" sz="2000" dirty="0"/>
              <a:t>Use markdowns to create additional tasks not outlined in project </a:t>
            </a:r>
            <a:r>
              <a:rPr lang="en-US" sz="2000" dirty="0" err="1"/>
              <a:t>CLAUDE.md</a:t>
            </a:r>
            <a:r>
              <a:rPr lang="en-US" sz="2000" dirty="0"/>
              <a:t>:</a:t>
            </a:r>
          </a:p>
          <a:p>
            <a:pPr lvl="1"/>
            <a:r>
              <a:rPr lang="en-US" sz="1600" dirty="0"/>
              <a:t>Refactor analysis code to add new functionality, respond to reviewer suggestions, etc.</a:t>
            </a:r>
          </a:p>
          <a:p>
            <a:pPr lvl="1"/>
            <a:r>
              <a:rPr lang="en-US" sz="1600" dirty="0"/>
              <a:t>Clean and document code to ensure publication-ready</a:t>
            </a:r>
          </a:p>
          <a:p>
            <a:r>
              <a:rPr lang="en-US" sz="2000" dirty="0"/>
              <a:t>LLMs will read additional markdowns into the context window (use a ‘planning’ skill)</a:t>
            </a:r>
          </a:p>
          <a:p>
            <a:r>
              <a:rPr lang="en-US" sz="2000" dirty="0"/>
              <a:t>Organize similarly to </a:t>
            </a:r>
            <a:r>
              <a:rPr lang="en-US" sz="2000" dirty="0" err="1"/>
              <a:t>CLAUDE.md</a:t>
            </a:r>
            <a:r>
              <a:rPr lang="en-US" sz="2000" dirty="0"/>
              <a:t> file with sections that make it easier for the LLM to search the context and find relevant details</a:t>
            </a:r>
          </a:p>
          <a:p>
            <a:r>
              <a:rPr lang="en-US" sz="2000" dirty="0"/>
              <a:t>Skills, Hooks, Agents, etc. are all ALSO markdown files, but follow project-agnostic ”meta” workflows (don’t bog down these markdowns with project-specific details)</a:t>
            </a:r>
          </a:p>
        </p:txBody>
      </p:sp>
    </p:spTree>
    <p:extLst>
      <p:ext uri="{BB962C8B-B14F-4D97-AF65-F5344CB8AC3E}">
        <p14:creationId xmlns:p14="http://schemas.microsoft.com/office/powerpoint/2010/main" val="3017641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0398-8455-853C-EEC1-A9AB7808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477D6-0324-9619-BA85-60B3E4824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2631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Being detailed is important, but conciseness is key</a:t>
            </a:r>
          </a:p>
          <a:p>
            <a:pPr lvl="1"/>
            <a:r>
              <a:rPr lang="en-US" dirty="0"/>
              <a:t>Will run into usage limits, especially with long sessions and with high agent use</a:t>
            </a:r>
            <a:br>
              <a:rPr lang="en-US" dirty="0"/>
            </a:br>
            <a:endParaRPr lang="en-US" dirty="0"/>
          </a:p>
          <a:p>
            <a:r>
              <a:rPr lang="en-US" dirty="0"/>
              <a:t>Utilize markdown files and shared resources (when appropriate)</a:t>
            </a:r>
          </a:p>
          <a:p>
            <a:pPr lvl="1"/>
            <a:r>
              <a:rPr lang="en-US" dirty="0"/>
              <a:t>Put important context where LLM can automatically retrieve it</a:t>
            </a:r>
          </a:p>
          <a:p>
            <a:pPr lvl="1"/>
            <a:r>
              <a:rPr lang="en-US" dirty="0"/>
              <a:t>In contexts where data is unavailable or can’t be shared/viewed, be sure to tell the LLM about the computational infrastructure where the code will be run</a:t>
            </a:r>
            <a:br>
              <a:rPr lang="en-US" dirty="0"/>
            </a:br>
            <a:endParaRPr lang="en-US" dirty="0"/>
          </a:p>
          <a:p>
            <a:r>
              <a:rPr lang="en-US" dirty="0"/>
              <a:t>Be transparent about LLM use where appropriate </a:t>
            </a:r>
          </a:p>
          <a:p>
            <a:pPr lvl="1"/>
            <a:r>
              <a:rPr lang="en-US" dirty="0" err="1"/>
              <a:t>HiTL</a:t>
            </a:r>
            <a:r>
              <a:rPr lang="en-US" dirty="0"/>
              <a:t> should </a:t>
            </a:r>
            <a:r>
              <a:rPr lang="en-US" i="1" dirty="0"/>
              <a:t>always</a:t>
            </a:r>
            <a:r>
              <a:rPr lang="en-US" dirty="0"/>
              <a:t> be utilized (in Claude Code: “manual” mode)</a:t>
            </a:r>
          </a:p>
          <a:p>
            <a:pPr lvl="1"/>
            <a:r>
              <a:rPr lang="en-US" dirty="0"/>
              <a:t>Limit automatic workflows (Human out-of-the-loop)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Put in the work ahead of time - come to an LLM prepared and the results (and time savings) will reflect your effort</a:t>
            </a:r>
          </a:p>
          <a:p>
            <a:pPr lvl="1"/>
            <a:r>
              <a:rPr lang="en-US" sz="2000" dirty="0"/>
              <a:t>Fewer hallucinations, memory lapses, and incorrect assumptions, saving you time in reviewing and correcting outputs</a:t>
            </a:r>
          </a:p>
        </p:txBody>
      </p:sp>
    </p:spTree>
    <p:extLst>
      <p:ext uri="{BB962C8B-B14F-4D97-AF65-F5344CB8AC3E}">
        <p14:creationId xmlns:p14="http://schemas.microsoft.com/office/powerpoint/2010/main" val="3353923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E9534-3391-903F-09EC-B4D44C6A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03C7-FEAD-A9CD-E960-238595C6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Available Skills in Taylor’s Workflow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998D-D30B-72E7-2273-7E53C966A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520564"/>
            <a:ext cx="10515600" cy="4880236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Utilities</a:t>
            </a:r>
          </a:p>
          <a:p>
            <a:pPr lvl="1"/>
            <a:r>
              <a:rPr lang="en-US" sz="1600" dirty="0"/>
              <a:t>/new-project</a:t>
            </a:r>
          </a:p>
          <a:p>
            <a:pPr lvl="1"/>
            <a:r>
              <a:rPr lang="en-US" sz="1600" dirty="0"/>
              <a:t>/resume-project</a:t>
            </a:r>
          </a:p>
          <a:p>
            <a:pPr lvl="1"/>
            <a:r>
              <a:rPr lang="en-US" sz="1600" dirty="0"/>
              <a:t>/end-session</a:t>
            </a:r>
          </a:p>
          <a:p>
            <a:r>
              <a:rPr lang="en-US" sz="2000" dirty="0"/>
              <a:t>General Use</a:t>
            </a:r>
          </a:p>
          <a:p>
            <a:pPr lvl="1"/>
            <a:r>
              <a:rPr lang="en-US" sz="1600" dirty="0"/>
              <a:t>/brainstorm</a:t>
            </a:r>
          </a:p>
          <a:p>
            <a:pPr lvl="1"/>
            <a:r>
              <a:rPr lang="en-US" sz="1600" dirty="0"/>
              <a:t>/implement (submodules: ‘plan’ and ‘build’)</a:t>
            </a:r>
          </a:p>
          <a:p>
            <a:pPr lvl="1"/>
            <a:r>
              <a:rPr lang="en-US" sz="1600" dirty="0"/>
              <a:t>/ref-</a:t>
            </a:r>
            <a:r>
              <a:rPr lang="en-US" sz="1600" dirty="0" err="1"/>
              <a:t>verif</a:t>
            </a:r>
            <a:r>
              <a:rPr lang="en-US" sz="1600" dirty="0"/>
              <a:t> (submodules: ‘existence’ and ‘verification’)</a:t>
            </a:r>
          </a:p>
          <a:p>
            <a:pPr lvl="1"/>
            <a:r>
              <a:rPr lang="en-US" sz="1600" dirty="0"/>
              <a:t>/</a:t>
            </a:r>
            <a:r>
              <a:rPr lang="en-US" sz="1600" dirty="0" err="1"/>
              <a:t>cr</a:t>
            </a:r>
            <a:r>
              <a:rPr lang="en-US" sz="1600" dirty="0"/>
              <a:t> (critical review)</a:t>
            </a:r>
          </a:p>
          <a:p>
            <a:r>
              <a:rPr lang="en-US" sz="2000" dirty="0"/>
              <a:t>Coding-Specific</a:t>
            </a:r>
          </a:p>
          <a:p>
            <a:pPr lvl="1"/>
            <a:r>
              <a:rPr lang="en-US" sz="1600" dirty="0"/>
              <a:t>/test (submodules: ‘</a:t>
            </a:r>
            <a:r>
              <a:rPr lang="en-US" sz="1600" dirty="0" err="1"/>
              <a:t>run_suite</a:t>
            </a:r>
            <a:r>
              <a:rPr lang="en-US" sz="1600" dirty="0"/>
              <a:t>’ and ‘design’)</a:t>
            </a:r>
          </a:p>
          <a:p>
            <a:pPr lvl="1"/>
            <a:r>
              <a:rPr lang="en-US" sz="1600" dirty="0"/>
              <a:t>/document</a:t>
            </a:r>
          </a:p>
          <a:p>
            <a:pPr lvl="1"/>
            <a:r>
              <a:rPr lang="en-US" sz="1600" dirty="0"/>
              <a:t>/clean</a:t>
            </a:r>
          </a:p>
          <a:p>
            <a:pPr lvl="1"/>
            <a:r>
              <a:rPr lang="en-US" sz="1600" dirty="0"/>
              <a:t>/publish</a:t>
            </a:r>
          </a:p>
          <a:p>
            <a:pPr lvl="1"/>
            <a:r>
              <a:rPr lang="en-US" sz="1600" dirty="0"/>
              <a:t>/run-local</a:t>
            </a:r>
          </a:p>
          <a:p>
            <a:r>
              <a:rPr lang="en-US" sz="2000" dirty="0"/>
              <a:t>Writing-Specific (still ironing these out)</a:t>
            </a:r>
          </a:p>
          <a:p>
            <a:pPr lvl="1"/>
            <a:r>
              <a:rPr lang="en-US" sz="1600" dirty="0"/>
              <a:t>/writing-revise</a:t>
            </a:r>
          </a:p>
          <a:p>
            <a:pPr lvl="1"/>
            <a:r>
              <a:rPr lang="en-US" sz="1600" dirty="0"/>
              <a:t>/writing-integrate (writing-specific ‘implement’)</a:t>
            </a:r>
          </a:p>
          <a:p>
            <a:pPr lvl="1"/>
            <a:r>
              <a:rPr lang="en-US" sz="1600" dirty="0"/>
              <a:t>/writing-draft</a:t>
            </a:r>
          </a:p>
          <a:p>
            <a:pPr lvl="1"/>
            <a:r>
              <a:rPr lang="en-US" sz="1600" dirty="0"/>
              <a:t>/writing-</a:t>
            </a:r>
            <a:r>
              <a:rPr lang="en-US" sz="1600" dirty="0" err="1"/>
              <a:t>cr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6267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3FFF-03A9-E31A-CF36-C75C96FF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3D3A46A0-8CF1-1355-1E6A-ACCA06BF807E}"/>
              </a:ext>
            </a:extLst>
          </p:cNvPr>
          <p:cNvSpPr/>
          <p:nvPr/>
        </p:nvSpPr>
        <p:spPr>
          <a:xfrm>
            <a:off x="249719" y="1360276"/>
            <a:ext cx="7323187" cy="1681821"/>
          </a:xfrm>
          <a:prstGeom prst="rect">
            <a:avLst/>
          </a:prstGeom>
          <a:solidFill>
            <a:schemeClr val="accent6">
              <a:lumMod val="20000"/>
              <a:lumOff val="80000"/>
              <a:alpha val="16008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F5D31E-A777-18FB-852B-65D53902340A}"/>
              </a:ext>
            </a:extLst>
          </p:cNvPr>
          <p:cNvSpPr txBox="1"/>
          <p:nvPr/>
        </p:nvSpPr>
        <p:spPr>
          <a:xfrm>
            <a:off x="339951" y="3837936"/>
            <a:ext cx="306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Finalizing Code: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8BCFA-6078-A5FA-A363-F7EC17823F84}"/>
              </a:ext>
            </a:extLst>
          </p:cNvPr>
          <p:cNvSpPr/>
          <p:nvPr/>
        </p:nvSpPr>
        <p:spPr>
          <a:xfrm>
            <a:off x="403639" y="4235848"/>
            <a:ext cx="159488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/document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861CA8-7559-65BA-6912-745DD6839E2F}"/>
              </a:ext>
            </a:extLst>
          </p:cNvPr>
          <p:cNvSpPr/>
          <p:nvPr/>
        </p:nvSpPr>
        <p:spPr>
          <a:xfrm>
            <a:off x="403639" y="4702674"/>
            <a:ext cx="159488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/publish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C8128F-FA9B-7973-B480-0DE5542F8079}"/>
              </a:ext>
            </a:extLst>
          </p:cNvPr>
          <p:cNvSpPr/>
          <p:nvPr/>
        </p:nvSpPr>
        <p:spPr>
          <a:xfrm>
            <a:off x="403639" y="5152474"/>
            <a:ext cx="159488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/run-local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25132D-BD96-F5B4-3377-47C1E3633C76}"/>
              </a:ext>
            </a:extLst>
          </p:cNvPr>
          <p:cNvSpPr txBox="1"/>
          <p:nvPr/>
        </p:nvSpPr>
        <p:spPr>
          <a:xfrm>
            <a:off x="132509" y="5521807"/>
            <a:ext cx="23905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*Only use with open-access or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simulated data. Do not give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LLMs direct access to protected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data sources unless zero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  retention policy in-place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2DBD570-CCDC-9906-695B-74850CF512DD}"/>
              </a:ext>
            </a:extLst>
          </p:cNvPr>
          <p:cNvGrpSpPr/>
          <p:nvPr/>
        </p:nvGrpSpPr>
        <p:grpSpPr>
          <a:xfrm>
            <a:off x="3211316" y="3489730"/>
            <a:ext cx="2906455" cy="3075902"/>
            <a:chOff x="4634432" y="1767302"/>
            <a:chExt cx="2906455" cy="307590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1604752-4935-026C-F5C9-C0AD44C50C10}"/>
                </a:ext>
              </a:extLst>
            </p:cNvPr>
            <p:cNvSpPr/>
            <p:nvPr/>
          </p:nvSpPr>
          <p:spPr>
            <a:xfrm>
              <a:off x="4634432" y="3112405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/test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31B74E-20E7-2464-039B-EB1121A24ECF}"/>
                </a:ext>
              </a:extLst>
            </p:cNvPr>
            <p:cNvSpPr/>
            <p:nvPr/>
          </p:nvSpPr>
          <p:spPr>
            <a:xfrm>
              <a:off x="5633893" y="3570577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/test </a:t>
              </a:r>
              <a:r>
                <a:rPr lang="en-US" sz="1200" dirty="0" err="1"/>
                <a:t>run_suite</a:t>
              </a:r>
              <a:endParaRPr lang="en-US" sz="12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1F97863-6461-1503-C79C-50D3CD841D0E}"/>
                </a:ext>
              </a:extLst>
            </p:cNvPr>
            <p:cNvSpPr/>
            <p:nvPr/>
          </p:nvSpPr>
          <p:spPr>
            <a:xfrm>
              <a:off x="5633895" y="4017578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/test design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1BEEF9-6366-83F0-6C10-24652889AD6E}"/>
                </a:ext>
              </a:extLst>
            </p:cNvPr>
            <p:cNvSpPr/>
            <p:nvPr/>
          </p:nvSpPr>
          <p:spPr>
            <a:xfrm>
              <a:off x="4634432" y="1767302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/implement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77F90D-7A7F-4633-D136-87B9E24D0E91}"/>
                </a:ext>
              </a:extLst>
            </p:cNvPr>
            <p:cNvSpPr/>
            <p:nvPr/>
          </p:nvSpPr>
          <p:spPr>
            <a:xfrm>
              <a:off x="5633894" y="4473871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/test </a:t>
              </a:r>
              <a:r>
                <a:rPr lang="en-US" sz="1200" dirty="0" err="1"/>
                <a:t>run_suite</a:t>
              </a:r>
              <a:endParaRPr lang="en-US" sz="120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F7068F0-D598-B014-ADAE-6009EF354EDD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5431871" y="2136635"/>
              <a:ext cx="3" cy="975770"/>
            </a:xfrm>
            <a:prstGeom prst="straightConnector1">
              <a:avLst/>
            </a:prstGeom>
            <a:ln>
              <a:tailEnd type="triangle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0A928DC-7F43-3EAD-EB47-5C11A6DF298A}"/>
                </a:ext>
              </a:extLst>
            </p:cNvPr>
            <p:cNvGrpSpPr/>
            <p:nvPr/>
          </p:nvGrpSpPr>
          <p:grpSpPr>
            <a:xfrm>
              <a:off x="5517993" y="2213828"/>
              <a:ext cx="1906992" cy="807896"/>
              <a:chOff x="5298558" y="1818509"/>
              <a:chExt cx="1906992" cy="80789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132C747-E26F-90C1-9128-95C633254D95}"/>
                  </a:ext>
                </a:extLst>
              </p:cNvPr>
              <p:cNvSpPr/>
              <p:nvPr/>
            </p:nvSpPr>
            <p:spPr>
              <a:xfrm>
                <a:off x="5298558" y="1818509"/>
                <a:ext cx="1594883" cy="36933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/implement plan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39EA405-02ED-3B7F-6E30-232A38818C4F}"/>
                  </a:ext>
                </a:extLst>
              </p:cNvPr>
              <p:cNvSpPr/>
              <p:nvPr/>
            </p:nvSpPr>
            <p:spPr>
              <a:xfrm>
                <a:off x="5298558" y="2257072"/>
                <a:ext cx="1594883" cy="36933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/implement build</a:t>
                </a: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01DBD8E-A96D-80CF-5A9C-60CF3E74B11B}"/>
                  </a:ext>
                </a:extLst>
              </p:cNvPr>
              <p:cNvSpPr/>
              <p:nvPr/>
            </p:nvSpPr>
            <p:spPr>
              <a:xfrm rot="15862659">
                <a:off x="6872672" y="2081405"/>
                <a:ext cx="371118" cy="294639"/>
              </a:xfrm>
              <a:custGeom>
                <a:avLst/>
                <a:gdLst>
                  <a:gd name="csX0" fmla="*/ 0 w 210064"/>
                  <a:gd name="csY0" fmla="*/ 0 h 259492"/>
                  <a:gd name="csX1" fmla="*/ 74140 w 210064"/>
                  <a:gd name="csY1" fmla="*/ 259492 h 259492"/>
                  <a:gd name="csX2" fmla="*/ 210064 w 210064"/>
                  <a:gd name="csY2" fmla="*/ 0 h 2594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10064" h="259492">
                    <a:moveTo>
                      <a:pt x="0" y="0"/>
                    </a:moveTo>
                    <a:cubicBezTo>
                      <a:pt x="19564" y="129746"/>
                      <a:pt x="39129" y="259492"/>
                      <a:pt x="74140" y="259492"/>
                    </a:cubicBezTo>
                    <a:cubicBezTo>
                      <a:pt x="109151" y="259492"/>
                      <a:pt x="159607" y="129746"/>
                      <a:pt x="210064" y="0"/>
                    </a:cubicBezTo>
                  </a:path>
                </a:pathLst>
              </a:custGeom>
              <a:noFill/>
              <a:ln>
                <a:headEnd type="triangle" w="lg" len="med"/>
                <a:tailEnd type="none" w="lg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E2E6158-AED3-3FBD-5E52-DAC35F06E4A3}"/>
                </a:ext>
              </a:extLst>
            </p:cNvPr>
            <p:cNvSpPr/>
            <p:nvPr/>
          </p:nvSpPr>
          <p:spPr>
            <a:xfrm rot="15862659">
              <a:off x="7208008" y="3851159"/>
              <a:ext cx="371118" cy="294639"/>
            </a:xfrm>
            <a:custGeom>
              <a:avLst/>
              <a:gdLst>
                <a:gd name="csX0" fmla="*/ 0 w 210064"/>
                <a:gd name="csY0" fmla="*/ 0 h 259492"/>
                <a:gd name="csX1" fmla="*/ 74140 w 210064"/>
                <a:gd name="csY1" fmla="*/ 259492 h 259492"/>
                <a:gd name="csX2" fmla="*/ 210064 w 210064"/>
                <a:gd name="csY2" fmla="*/ 0 h 259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0064" h="259492">
                  <a:moveTo>
                    <a:pt x="0" y="0"/>
                  </a:moveTo>
                  <a:cubicBezTo>
                    <a:pt x="19564" y="129746"/>
                    <a:pt x="39129" y="259492"/>
                    <a:pt x="74140" y="259492"/>
                  </a:cubicBezTo>
                  <a:cubicBezTo>
                    <a:pt x="109151" y="259492"/>
                    <a:pt x="159607" y="129746"/>
                    <a:pt x="210064" y="0"/>
                  </a:cubicBezTo>
                </a:path>
              </a:pathLst>
            </a:custGeom>
            <a:noFill/>
            <a:ln>
              <a:headEnd type="triangle" w="lg" len="med"/>
              <a:tailEnd type="non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0C87E5F-5259-20DD-5C52-F381196FB0A4}"/>
                </a:ext>
              </a:extLst>
            </p:cNvPr>
            <p:cNvSpPr/>
            <p:nvPr/>
          </p:nvSpPr>
          <p:spPr>
            <a:xfrm rot="15862659">
              <a:off x="7208009" y="4326551"/>
              <a:ext cx="371118" cy="294639"/>
            </a:xfrm>
            <a:custGeom>
              <a:avLst/>
              <a:gdLst>
                <a:gd name="csX0" fmla="*/ 0 w 210064"/>
                <a:gd name="csY0" fmla="*/ 0 h 259492"/>
                <a:gd name="csX1" fmla="*/ 74140 w 210064"/>
                <a:gd name="csY1" fmla="*/ 259492 h 259492"/>
                <a:gd name="csX2" fmla="*/ 210064 w 210064"/>
                <a:gd name="csY2" fmla="*/ 0 h 259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10064" h="259492">
                  <a:moveTo>
                    <a:pt x="0" y="0"/>
                  </a:moveTo>
                  <a:cubicBezTo>
                    <a:pt x="19564" y="129746"/>
                    <a:pt x="39129" y="259492"/>
                    <a:pt x="74140" y="259492"/>
                  </a:cubicBezTo>
                  <a:cubicBezTo>
                    <a:pt x="109151" y="259492"/>
                    <a:pt x="159607" y="129746"/>
                    <a:pt x="210064" y="0"/>
                  </a:cubicBezTo>
                </a:path>
              </a:pathLst>
            </a:custGeom>
            <a:noFill/>
            <a:ln>
              <a:headEnd type="triangle" w="lg" len="med"/>
              <a:tailEnd type="none" w="lg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1414583-1126-8E2B-61B3-2F48287DB3E6}"/>
              </a:ext>
            </a:extLst>
          </p:cNvPr>
          <p:cNvGrpSpPr/>
          <p:nvPr/>
        </p:nvGrpSpPr>
        <p:grpSpPr>
          <a:xfrm>
            <a:off x="339951" y="1412455"/>
            <a:ext cx="11745379" cy="1754326"/>
            <a:chOff x="446621" y="908670"/>
            <a:chExt cx="11745379" cy="175432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B76FA5-62DC-8DF7-935F-EA5095C47F19}"/>
                </a:ext>
              </a:extLst>
            </p:cNvPr>
            <p:cNvSpPr/>
            <p:nvPr/>
          </p:nvSpPr>
          <p:spPr>
            <a:xfrm>
              <a:off x="4126903" y="1000518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/clean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07D49ED-5372-86D5-67A0-BA4A73123036}"/>
                </a:ext>
              </a:extLst>
            </p:cNvPr>
            <p:cNvSpPr/>
            <p:nvPr/>
          </p:nvSpPr>
          <p:spPr>
            <a:xfrm>
              <a:off x="2363251" y="1000518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</a:t>
              </a:r>
              <a:r>
                <a:rPr lang="en-US" sz="1200" dirty="0" err="1"/>
                <a:t>cr</a:t>
              </a:r>
              <a:endParaRPr lang="en-US" sz="12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97CE4A-A9BB-4A95-2345-ED2CDF2FD04E}"/>
                </a:ext>
              </a:extLst>
            </p:cNvPr>
            <p:cNvSpPr/>
            <p:nvPr/>
          </p:nvSpPr>
          <p:spPr>
            <a:xfrm>
              <a:off x="478138" y="1000518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/brainstorm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629FB6A-4B88-697C-0FEF-D6A97B90DAA4}"/>
                </a:ext>
              </a:extLst>
            </p:cNvPr>
            <p:cNvSpPr txBox="1"/>
            <p:nvPr/>
          </p:nvSpPr>
          <p:spPr>
            <a:xfrm>
              <a:off x="7689699" y="908670"/>
              <a:ext cx="450230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Broad, high-effort skills that have ‘reasoning’ capabilities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/>
                <a:t>Allow Tools</a:t>
              </a:r>
              <a:r>
                <a:rPr lang="en-US" sz="1200" dirty="0"/>
                <a:t>: dispatch independent (web-based) research agents, web reads, local reads, write reports to the workspace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/>
                <a:t>Rejected Tools</a:t>
              </a:r>
              <a:r>
                <a:rPr lang="en-US" sz="1200" dirty="0"/>
                <a:t>: Writes (destructive) outside of the workspace, deletes, executes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1" dirty="0"/>
                <a:t>Built-In Redundancy</a:t>
              </a:r>
              <a:r>
                <a:rPr lang="en-US" sz="1200" dirty="0"/>
                <a:t>: will do built-in reference verification for recommendations (</a:t>
              </a:r>
              <a:r>
                <a:rPr lang="en-US" sz="1200" u="sng" dirty="0"/>
                <a:t>still recommended to do this externally</a:t>
              </a:r>
              <a:r>
                <a:rPr lang="en-US" sz="1200" dirty="0"/>
                <a:t>) and will ‘validate’ dispatched agents’ responses (its ‘sniff test’ based on training data, not research)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18917B4-4F35-36D5-E447-3A184CD5B041}"/>
                </a:ext>
              </a:extLst>
            </p:cNvPr>
            <p:cNvSpPr/>
            <p:nvPr/>
          </p:nvSpPr>
          <p:spPr>
            <a:xfrm>
              <a:off x="5966558" y="1000518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/ref-</a:t>
              </a:r>
              <a:r>
                <a:rPr lang="en-US" sz="1200" dirty="0" err="1"/>
                <a:t>verif</a:t>
              </a:r>
              <a:endParaRPr lang="en-US" sz="12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0F3F061-D748-0CFE-0DC8-483888D60980}"/>
                </a:ext>
              </a:extLst>
            </p:cNvPr>
            <p:cNvSpPr txBox="1"/>
            <p:nvPr/>
          </p:nvSpPr>
          <p:spPr>
            <a:xfrm>
              <a:off x="446621" y="1390411"/>
              <a:ext cx="167960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Discuss a new idea for code features, analyses, bugs, etc. </a:t>
              </a:r>
              <a:r>
                <a:rPr lang="en-US" sz="1100" i="1" dirty="0"/>
                <a:t>or</a:t>
              </a:r>
              <a:r>
                <a:rPr lang="en-US" sz="1100" dirty="0"/>
                <a:t> discuss reports from other skills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C0C822E-E67D-076E-B4F4-A8F960F2D8FB}"/>
                </a:ext>
              </a:extLst>
            </p:cNvPr>
            <p:cNvSpPr txBox="1"/>
            <p:nvPr/>
          </p:nvSpPr>
          <p:spPr>
            <a:xfrm>
              <a:off x="2313365" y="1390411"/>
              <a:ext cx="167960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Critical and adversarial </a:t>
              </a:r>
              <a:r>
                <a:rPr lang="en-US" sz="1100" b="1" dirty="0"/>
                <a:t>scientific</a:t>
              </a:r>
              <a:r>
                <a:rPr lang="en-US" sz="1100" dirty="0"/>
                <a:t> review of codebases, statistical pipelines, and designs </a:t>
              </a:r>
              <a:r>
                <a:rPr lang="en-US" sz="1100" i="1" dirty="0"/>
                <a:t>or</a:t>
              </a:r>
              <a:r>
                <a:rPr lang="en-US" sz="1100" dirty="0"/>
                <a:t> of reports from other skills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D7CC3F3-A714-BF5F-6735-A91F785A9E68}"/>
                </a:ext>
              </a:extLst>
            </p:cNvPr>
            <p:cNvSpPr txBox="1"/>
            <p:nvPr/>
          </p:nvSpPr>
          <p:spPr>
            <a:xfrm>
              <a:off x="4124904" y="1400084"/>
              <a:ext cx="184165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Critical and adversarial </a:t>
              </a:r>
              <a:r>
                <a:rPr lang="en-US" sz="1100" b="1" dirty="0"/>
                <a:t>computational</a:t>
              </a:r>
              <a:r>
                <a:rPr lang="en-US" sz="1100" dirty="0"/>
                <a:t> review of code efficiency, complexity, documentation (including comments), and safety safeguards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7007994-3B4C-E016-F609-D41D4F78E737}"/>
                </a:ext>
              </a:extLst>
            </p:cNvPr>
            <p:cNvSpPr txBox="1"/>
            <p:nvPr/>
          </p:nvSpPr>
          <p:spPr>
            <a:xfrm>
              <a:off x="5937821" y="1401113"/>
              <a:ext cx="16670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Validate that references exist and that the information cited is accurate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C8D403C-E86C-68A8-3BA6-1D2FB9F00A58}"/>
              </a:ext>
            </a:extLst>
          </p:cNvPr>
          <p:cNvSpPr txBox="1"/>
          <p:nvPr/>
        </p:nvSpPr>
        <p:spPr>
          <a:xfrm>
            <a:off x="6041656" y="3516141"/>
            <a:ext cx="45023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Specific, mixed-effort skills with overall reduced ‘reasoning’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Allowed Tools</a:t>
            </a:r>
            <a:r>
              <a:rPr lang="en-US" sz="1200" dirty="0"/>
              <a:t>: dispatch independent worker agents, writes/edits to the workspace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Rejected Tools</a:t>
            </a:r>
            <a:r>
              <a:rPr lang="en-US" sz="1200" dirty="0"/>
              <a:t>: Writes (destructive) and reads outside of the workspace, deletes, all web-based research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Deviations: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/</a:t>
            </a:r>
            <a:r>
              <a:rPr lang="en-US" sz="1200" b="1" dirty="0" err="1"/>
              <a:t>implement:plan</a:t>
            </a:r>
            <a:r>
              <a:rPr lang="en-US" sz="1200" b="1" dirty="0"/>
              <a:t> </a:t>
            </a:r>
            <a:r>
              <a:rPr lang="en-US" sz="1200" dirty="0"/>
              <a:t>is a high-effort/reasoning skill; reads brainstorm/</a:t>
            </a:r>
            <a:r>
              <a:rPr lang="en-US" sz="1200" dirty="0" err="1"/>
              <a:t>cr</a:t>
            </a:r>
            <a:r>
              <a:rPr lang="en-US" sz="1200" dirty="0"/>
              <a:t>/clean reports and figures out how to implement them with code </a:t>
            </a:r>
            <a:r>
              <a:rPr lang="en-US" sz="1200" b="1" dirty="0"/>
              <a:t>(the better the reports, the less work this skill has to do)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/</a:t>
            </a:r>
            <a:r>
              <a:rPr lang="en-US" sz="1200" b="1" dirty="0" err="1"/>
              <a:t>test:design</a:t>
            </a:r>
            <a:r>
              <a:rPr lang="en-US" sz="1200" b="1" dirty="0"/>
              <a:t> </a:t>
            </a:r>
            <a:r>
              <a:rPr lang="en-US" sz="1200" dirty="0"/>
              <a:t>is a high-effort/reasoning skill; reads the codebase and designs tests to reduce bugs. </a:t>
            </a:r>
            <a:r>
              <a:rPr lang="en-US" sz="1200" b="1" dirty="0"/>
              <a:t>Has execute permissions to the /tests directory of the workspace.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F683C00-A472-CCCE-674B-11C2B5FFCFA9}"/>
              </a:ext>
            </a:extLst>
          </p:cNvPr>
          <p:cNvGrpSpPr/>
          <p:nvPr/>
        </p:nvGrpSpPr>
        <p:grpSpPr>
          <a:xfrm>
            <a:off x="2220340" y="274238"/>
            <a:ext cx="7170639" cy="390783"/>
            <a:chOff x="214633" y="4444049"/>
            <a:chExt cx="7170639" cy="39078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4AA342-A597-5A0B-317B-9F018808D18B}"/>
                </a:ext>
              </a:extLst>
            </p:cNvPr>
            <p:cNvSpPr/>
            <p:nvPr/>
          </p:nvSpPr>
          <p:spPr>
            <a:xfrm>
              <a:off x="2310065" y="4457565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/new-project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EDFAFA-D0C1-0286-3D86-3F2D13131D08}"/>
                </a:ext>
              </a:extLst>
            </p:cNvPr>
            <p:cNvSpPr/>
            <p:nvPr/>
          </p:nvSpPr>
          <p:spPr>
            <a:xfrm>
              <a:off x="4050227" y="4444049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/resume-project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76EBBBB-8969-BBB3-A70B-745B60F4AD71}"/>
                </a:ext>
              </a:extLst>
            </p:cNvPr>
            <p:cNvSpPr/>
            <p:nvPr/>
          </p:nvSpPr>
          <p:spPr>
            <a:xfrm>
              <a:off x="5790389" y="4444049"/>
              <a:ext cx="1594883" cy="3693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/end-session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29097E3-2943-088D-F628-91237A92C92C}"/>
                </a:ext>
              </a:extLst>
            </p:cNvPr>
            <p:cNvSpPr txBox="1"/>
            <p:nvPr/>
          </p:nvSpPr>
          <p:spPr>
            <a:xfrm>
              <a:off x="214633" y="4465500"/>
              <a:ext cx="3069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Start/End Utilities:</a:t>
              </a: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9586C5F-23B8-4603-78DB-FC0CD856CD14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3911313" y="679469"/>
            <a:ext cx="942986" cy="680807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E6A6DB7-B2A6-0196-F5CD-A12F64D63A80}"/>
              </a:ext>
            </a:extLst>
          </p:cNvPr>
          <p:cNvCxnSpPr>
            <a:cxnSpLocks/>
            <a:stCxn id="11" idx="2"/>
            <a:endCxn id="52" idx="0"/>
          </p:cNvCxnSpPr>
          <p:nvPr/>
        </p:nvCxnSpPr>
        <p:spPr>
          <a:xfrm flipH="1">
            <a:off x="3911313" y="643571"/>
            <a:ext cx="2942063" cy="716705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40099C7-56CF-6C09-2CE3-BD454D5CAC72}"/>
              </a:ext>
            </a:extLst>
          </p:cNvPr>
          <p:cNvCxnSpPr>
            <a:cxnSpLocks/>
          </p:cNvCxnSpPr>
          <p:nvPr/>
        </p:nvCxnSpPr>
        <p:spPr>
          <a:xfrm>
            <a:off x="4005383" y="3046209"/>
            <a:ext cx="3375" cy="410863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D69E278-C718-B873-6D9F-5979E36E7825}"/>
              </a:ext>
            </a:extLst>
          </p:cNvPr>
          <p:cNvSpPr txBox="1"/>
          <p:nvPr/>
        </p:nvSpPr>
        <p:spPr>
          <a:xfrm>
            <a:off x="215569" y="988186"/>
            <a:ext cx="306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Planning: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AFF0F8-C2FC-61C0-1FC0-C785F6E5DDE6}"/>
              </a:ext>
            </a:extLst>
          </p:cNvPr>
          <p:cNvSpPr txBox="1"/>
          <p:nvPr/>
        </p:nvSpPr>
        <p:spPr>
          <a:xfrm>
            <a:off x="2190946" y="3210408"/>
            <a:ext cx="306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Building:</a:t>
            </a:r>
          </a:p>
        </p:txBody>
      </p:sp>
    </p:spTree>
    <p:extLst>
      <p:ext uri="{BB962C8B-B14F-4D97-AF65-F5344CB8AC3E}">
        <p14:creationId xmlns:p14="http://schemas.microsoft.com/office/powerpoint/2010/main" val="1657610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B17E-61E1-AC81-3512-6E0B450D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with Claude Code</a:t>
            </a:r>
          </a:p>
        </p:txBody>
      </p:sp>
    </p:spTree>
    <p:extLst>
      <p:ext uri="{BB962C8B-B14F-4D97-AF65-F5344CB8AC3E}">
        <p14:creationId xmlns:p14="http://schemas.microsoft.com/office/powerpoint/2010/main" val="1274552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19068</TotalTime>
  <Words>2340</Words>
  <Application>Microsoft Macintosh PowerPoint</Application>
  <PresentationFormat>Widescreen</PresentationFormat>
  <Paragraphs>196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Large Language Models (LLMs) are Text-Predicting Engines</vt:lpstr>
      <vt:lpstr>Some Useful Terms…</vt:lpstr>
      <vt:lpstr>LLM Prompts and Context Windows</vt:lpstr>
      <vt:lpstr>Systems-Level and ‘Meta’ Thinking is Key</vt:lpstr>
      <vt:lpstr>Skill Design</vt:lpstr>
      <vt:lpstr>Transparency, Privacy, and Return Policy Concerns</vt:lpstr>
      <vt:lpstr>Anthropic Models</vt:lpstr>
      <vt:lpstr>CLAUDE.md </vt:lpstr>
      <vt:lpstr>Additional Markdown Files</vt:lpstr>
      <vt:lpstr>General Advice</vt:lpstr>
      <vt:lpstr>Available Skills in Taylor’s Workflow System</vt:lpstr>
      <vt:lpstr>PowerPoint Presentation</vt:lpstr>
      <vt:lpstr>Hands-On with Claude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Jay Keding</dc:creator>
  <cp:lastModifiedBy>Taylor Jay Keding</cp:lastModifiedBy>
  <cp:revision>33</cp:revision>
  <dcterms:created xsi:type="dcterms:W3CDTF">2026-02-17T14:16:54Z</dcterms:created>
  <dcterms:modified xsi:type="dcterms:W3CDTF">2026-09-28T19:36:09Z</dcterms:modified>
</cp:coreProperties>
</file>